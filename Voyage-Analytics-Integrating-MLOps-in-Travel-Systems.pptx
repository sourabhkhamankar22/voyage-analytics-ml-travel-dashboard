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" charset="1" panose="00000500000000000000"/>
      <p:regular r:id="rId19"/>
    </p:embeddedFont>
    <p:embeddedFont>
      <p:font typeface="Heebo Light" charset="1" panose="00000400000000000000"/>
      <p:regular r:id="rId20"/>
    </p:embeddedFont>
    <p:embeddedFont>
      <p:font typeface="Heebo Bold" charset="1" panose="00000800000000000000"/>
      <p:regular r:id="rId24"/>
    </p:embeddedFont>
    <p:embeddedFont>
      <p:font typeface="Heebo" charset="1" panose="000005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https://voyage-analytics-ml-travel-dashboard-ljtq8b6sjg8ylclv5gugzj.streamlit.app/" TargetMode="External" Type="http://schemas.openxmlformats.org/officeDocument/2006/relationships/hyperlink"/><Relationship Id="rId5" Target="../media/image3.png" Type="http://schemas.openxmlformats.org/officeDocument/2006/relationships/image"/><Relationship Id="rId6" Target="https://github.com/SourabhKhamankar22/Voyage-Analytics-ML-Travel-Dashboard" TargetMode="External" Type="http://schemas.openxmlformats.org/officeDocument/2006/relationships/hyperlink"/><Relationship Id="rId7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12.jpe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2888161"/>
            <a:ext cx="9445523" cy="2696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✈️</a:t>
            </a:r>
            <a:r>
              <a:rPr lang="en-US" sz="55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 Voyage Analytics: Integrating MLOps in Travel Systems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5933180"/>
            <a:ext cx="9445523" cy="1437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An end-to-end Machine Learning and MLOps platform tailored for the travel and tourism industry — delivering real-time predictions and recommendations from multi-modal travel datasets.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575912"/>
            <a:ext cx="16303523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Project Overview &amp; Live Access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189657"/>
            <a:ext cx="7805890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Why We Built This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849416"/>
            <a:ext cx="7805890" cy="1437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Voyage Analytics bridges the gap between raw travel data and user-facing applications by integrating statistical models into an interactive, deployed web dashboard.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99406" y="4189657"/>
            <a:ext cx="7805890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Key Capabilities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99406" y="4906127"/>
            <a:ext cx="7805890" cy="157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Real-time flight price prediction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User demographic classification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Destination-based hotel recommendations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721821" y="6902796"/>
            <a:ext cx="2533802" cy="779707"/>
            <a:chOff x="0" y="0"/>
            <a:chExt cx="3378403" cy="1039609"/>
          </a:xfrm>
        </p:grpSpPr>
        <p:sp>
          <p:nvSpPr>
            <p:cNvPr name="Freeform 12" id="12" descr="preencoded.png">
              <a:hlinkClick r:id="rId4" tooltip="https://voyage-analytics-ml-travel-dashboard-ljtq8b6sjg8ylclv5gugzj.streamlit.app/"/>
            </p:cNvPr>
            <p:cNvSpPr/>
            <p:nvPr/>
          </p:nvSpPr>
          <p:spPr>
            <a:xfrm flipH="false" flipV="false" rot="0">
              <a:off x="0" y="0"/>
              <a:ext cx="3378454" cy="1039622"/>
            </a:xfrm>
            <a:custGeom>
              <a:avLst/>
              <a:gdLst/>
              <a:ahLst/>
              <a:cxnLst/>
              <a:rect r="r" b="b" t="t" l="l"/>
              <a:pathLst>
                <a:path h="1039622" w="3378454">
                  <a:moveTo>
                    <a:pt x="0" y="0"/>
                  </a:moveTo>
                  <a:lnTo>
                    <a:pt x="3378454" y="0"/>
                  </a:lnTo>
                  <a:lnTo>
                    <a:pt x="3378454" y="1039622"/>
                  </a:lnTo>
                  <a:lnTo>
                    <a:pt x="0" y="1039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8" t="0" r="-97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397308" y="6902796"/>
            <a:ext cx="2168871" cy="779707"/>
            <a:chOff x="0" y="0"/>
            <a:chExt cx="2891828" cy="1039609"/>
          </a:xfrm>
        </p:grpSpPr>
        <p:sp>
          <p:nvSpPr>
            <p:cNvPr name="Freeform 14" id="14" descr="preencoded.png">
              <a:hlinkClick r:id="rId6" tooltip="https://github.com/SourabhKhamankar22/Voyage-Analytics-ML-Travel-Dashboard"/>
            </p:cNvPr>
            <p:cNvSpPr/>
            <p:nvPr/>
          </p:nvSpPr>
          <p:spPr>
            <a:xfrm flipH="false" flipV="false" rot="0">
              <a:off x="0" y="0"/>
              <a:ext cx="2891790" cy="1039622"/>
            </a:xfrm>
            <a:custGeom>
              <a:avLst/>
              <a:gdLst/>
              <a:ahLst/>
              <a:cxnLst/>
              <a:rect r="r" b="b" t="t" l="l"/>
              <a:pathLst>
                <a:path h="1039622" w="2891790">
                  <a:moveTo>
                    <a:pt x="0" y="0"/>
                  </a:moveTo>
                  <a:lnTo>
                    <a:pt x="2891790" y="0"/>
                  </a:lnTo>
                  <a:lnTo>
                    <a:pt x="2891790" y="1039622"/>
                  </a:lnTo>
                  <a:lnTo>
                    <a:pt x="0" y="1039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0" r="-1" b="-19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01443"/>
            <a:ext cx="16303523" cy="835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4"/>
              </a:lnSpc>
            </a:pPr>
            <a:r>
              <a:rPr lang="en-US" sz="51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System Architecture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119160"/>
            <a:ext cx="1306859" cy="1568206"/>
            <a:chOff x="0" y="0"/>
            <a:chExt cx="1742478" cy="2090941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742440" cy="2090928"/>
            </a:xfrm>
            <a:custGeom>
              <a:avLst/>
              <a:gdLst/>
              <a:ahLst/>
              <a:cxnLst/>
              <a:rect r="r" b="b" t="t" l="l"/>
              <a:pathLst>
                <a:path h="2090928" w="1742440">
                  <a:moveTo>
                    <a:pt x="0" y="0"/>
                  </a:moveTo>
                  <a:lnTo>
                    <a:pt x="1742440" y="0"/>
                  </a:lnTo>
                  <a:lnTo>
                    <a:pt x="1742440" y="2090928"/>
                  </a:lnTo>
                  <a:lnTo>
                    <a:pt x="0" y="2090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0" t="0" r="-182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540051" y="2370982"/>
            <a:ext cx="14755711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Data Ingestion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40051" y="2866577"/>
            <a:ext cx="14755711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Raw CSV data is collected, cleaned, and prepared for downstream processing.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238" y="3687366"/>
            <a:ext cx="1306859" cy="1568206"/>
            <a:chOff x="0" y="0"/>
            <a:chExt cx="1742478" cy="2090941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742440" cy="2090928"/>
            </a:xfrm>
            <a:custGeom>
              <a:avLst/>
              <a:gdLst/>
              <a:ahLst/>
              <a:cxnLst/>
              <a:rect r="r" b="b" t="t" l="l"/>
              <a:pathLst>
                <a:path h="2090928" w="1742440">
                  <a:moveTo>
                    <a:pt x="0" y="0"/>
                  </a:moveTo>
                  <a:lnTo>
                    <a:pt x="1742440" y="0"/>
                  </a:lnTo>
                  <a:lnTo>
                    <a:pt x="1742440" y="2090928"/>
                  </a:lnTo>
                  <a:lnTo>
                    <a:pt x="0" y="2090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80" t="0" r="-182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540051" y="3939188"/>
            <a:ext cx="14755711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Model Training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40051" y="4434783"/>
            <a:ext cx="14755711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ML models are trained and evaluated using tracked experiments in MLflow.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2238" y="5255571"/>
            <a:ext cx="1306859" cy="1568206"/>
            <a:chOff x="0" y="0"/>
            <a:chExt cx="1742478" cy="2090941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742440" cy="2090928"/>
            </a:xfrm>
            <a:custGeom>
              <a:avLst/>
              <a:gdLst/>
              <a:ahLst/>
              <a:cxnLst/>
              <a:rect r="r" b="b" t="t" l="l"/>
              <a:pathLst>
                <a:path h="2090928" w="1742440">
                  <a:moveTo>
                    <a:pt x="0" y="0"/>
                  </a:moveTo>
                  <a:lnTo>
                    <a:pt x="1742440" y="0"/>
                  </a:lnTo>
                  <a:lnTo>
                    <a:pt x="1742440" y="2090928"/>
                  </a:lnTo>
                  <a:lnTo>
                    <a:pt x="0" y="2090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80" t="0" r="-182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540051" y="5507384"/>
            <a:ext cx="14755711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Artifact Generation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40051" y="6002979"/>
            <a:ext cx="14755711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Saved models, metrics, and outputs are packaged as reusable deployment artifacts.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2238" y="6823767"/>
            <a:ext cx="1306859" cy="1568206"/>
            <a:chOff x="0" y="0"/>
            <a:chExt cx="1742478" cy="2090941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742440" cy="2090928"/>
            </a:xfrm>
            <a:custGeom>
              <a:avLst/>
              <a:gdLst/>
              <a:ahLst/>
              <a:cxnLst/>
              <a:rect r="r" b="b" t="t" l="l"/>
              <a:pathLst>
                <a:path h="2090928" w="1742440">
                  <a:moveTo>
                    <a:pt x="0" y="0"/>
                  </a:moveTo>
                  <a:lnTo>
                    <a:pt x="1742440" y="0"/>
                  </a:lnTo>
                  <a:lnTo>
                    <a:pt x="1742440" y="2090928"/>
                  </a:lnTo>
                  <a:lnTo>
                    <a:pt x="0" y="2090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80" t="0" r="-182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540051" y="7075589"/>
            <a:ext cx="14755711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Cloud Deployment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40051" y="7571184"/>
            <a:ext cx="14755711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The final application is deployed and served in real time on Streamlit Community Cloud.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2238" y="8596313"/>
            <a:ext cx="16303523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The platform follows a clean end-to-end pipeline — from raw CSV ingestion through MLflow-tracked training to real-time inference served on Streamlit Community Cloud.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10520"/>
            <a:ext cx="16303523" cy="88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Dataset Overview &amp; Data Insights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395690"/>
            <a:ext cx="7400925" cy="6074721"/>
            <a:chOff x="0" y="0"/>
            <a:chExt cx="9867900" cy="809962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9867900" cy="8099679"/>
            </a:xfrm>
            <a:custGeom>
              <a:avLst/>
              <a:gdLst/>
              <a:ahLst/>
              <a:cxnLst/>
              <a:rect r="r" b="b" t="t" l="l"/>
              <a:pathLst>
                <a:path h="8099679" w="9867900">
                  <a:moveTo>
                    <a:pt x="0" y="0"/>
                  </a:moveTo>
                  <a:lnTo>
                    <a:pt x="9867900" y="0"/>
                  </a:lnTo>
                  <a:lnTo>
                    <a:pt x="9867900" y="8099679"/>
                  </a:lnTo>
                  <a:lnTo>
                    <a:pt x="0" y="8099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8" r="0" b="-17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313964" y="2390927"/>
            <a:ext cx="7995942" cy="1714948"/>
            <a:chOff x="0" y="0"/>
            <a:chExt cx="10661256" cy="22865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61269" cy="2286635"/>
            </a:xfrm>
            <a:custGeom>
              <a:avLst/>
              <a:gdLst/>
              <a:ahLst/>
              <a:cxnLst/>
              <a:rect r="r" b="b" t="t" l="l"/>
              <a:pathLst>
                <a:path h="2286635" w="10661269">
                  <a:moveTo>
                    <a:pt x="0" y="154686"/>
                  </a:moveTo>
                  <a:cubicBezTo>
                    <a:pt x="0" y="69215"/>
                    <a:pt x="69215" y="0"/>
                    <a:pt x="154686" y="0"/>
                  </a:cubicBezTo>
                  <a:lnTo>
                    <a:pt x="10506583" y="0"/>
                  </a:lnTo>
                  <a:cubicBezTo>
                    <a:pt x="10592053" y="0"/>
                    <a:pt x="10661269" y="69215"/>
                    <a:pt x="10661269" y="154686"/>
                  </a:cubicBezTo>
                  <a:lnTo>
                    <a:pt x="10661269" y="2131949"/>
                  </a:lnTo>
                  <a:cubicBezTo>
                    <a:pt x="10661269" y="2217420"/>
                    <a:pt x="10592053" y="2286635"/>
                    <a:pt x="10506583" y="2286635"/>
                  </a:cubicBezTo>
                  <a:lnTo>
                    <a:pt x="154686" y="2286635"/>
                  </a:lnTo>
                  <a:cubicBezTo>
                    <a:pt x="69215" y="2286635"/>
                    <a:pt x="0" y="2217293"/>
                    <a:pt x="0" y="2131949"/>
                  </a:cubicBezTo>
                  <a:close/>
                </a:path>
              </a:pathLst>
            </a:custGeom>
            <a:solidFill>
              <a:srgbClr val="31136C"/>
            </a:solidFill>
            <a:ln w="9526" cap="sq">
              <a:solidFill>
                <a:srgbClr val="4A2C85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9602838" y="2670277"/>
            <a:ext cx="7418194" cy="44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✈️</a:t>
            </a:r>
            <a:r>
              <a:rPr lang="en-US" sz="27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 Flight Data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02838" y="3308156"/>
            <a:ext cx="7418194" cy="50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 b="true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271,888</a:t>
            </a:r>
            <a:r>
              <a:rPr lang="en-US" sz="2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records for predicting ticket prices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13964" y="4362298"/>
            <a:ext cx="7995942" cy="1714948"/>
            <a:chOff x="0" y="0"/>
            <a:chExt cx="10661256" cy="22865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61269" cy="2286635"/>
            </a:xfrm>
            <a:custGeom>
              <a:avLst/>
              <a:gdLst/>
              <a:ahLst/>
              <a:cxnLst/>
              <a:rect r="r" b="b" t="t" l="l"/>
              <a:pathLst>
                <a:path h="2286635" w="10661269">
                  <a:moveTo>
                    <a:pt x="0" y="154686"/>
                  </a:moveTo>
                  <a:cubicBezTo>
                    <a:pt x="0" y="69215"/>
                    <a:pt x="69215" y="0"/>
                    <a:pt x="154686" y="0"/>
                  </a:cubicBezTo>
                  <a:lnTo>
                    <a:pt x="10506583" y="0"/>
                  </a:lnTo>
                  <a:cubicBezTo>
                    <a:pt x="10592053" y="0"/>
                    <a:pt x="10661269" y="69215"/>
                    <a:pt x="10661269" y="154686"/>
                  </a:cubicBezTo>
                  <a:lnTo>
                    <a:pt x="10661269" y="2131949"/>
                  </a:lnTo>
                  <a:cubicBezTo>
                    <a:pt x="10661269" y="2217420"/>
                    <a:pt x="10592053" y="2286635"/>
                    <a:pt x="10506583" y="2286635"/>
                  </a:cubicBezTo>
                  <a:lnTo>
                    <a:pt x="154686" y="2286635"/>
                  </a:lnTo>
                  <a:cubicBezTo>
                    <a:pt x="69215" y="2286635"/>
                    <a:pt x="0" y="2217293"/>
                    <a:pt x="0" y="2131949"/>
                  </a:cubicBezTo>
                  <a:close/>
                </a:path>
              </a:pathLst>
            </a:custGeom>
            <a:solidFill>
              <a:srgbClr val="31136C"/>
            </a:solidFill>
            <a:ln w="9526" cap="sq">
              <a:solidFill>
                <a:srgbClr val="4A2C85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602838" y="4641647"/>
            <a:ext cx="7418194" cy="44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🏨</a:t>
            </a:r>
            <a:r>
              <a:rPr lang="en-US" sz="27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 Hotel Data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02838" y="5279527"/>
            <a:ext cx="7418194" cy="50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 b="true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40,552</a:t>
            </a:r>
            <a:r>
              <a:rPr lang="en-US" sz="2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booking logs for the recommendation engine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13964" y="6333677"/>
            <a:ext cx="7995942" cy="1714948"/>
            <a:chOff x="0" y="0"/>
            <a:chExt cx="10661256" cy="22865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61269" cy="2286635"/>
            </a:xfrm>
            <a:custGeom>
              <a:avLst/>
              <a:gdLst/>
              <a:ahLst/>
              <a:cxnLst/>
              <a:rect r="r" b="b" t="t" l="l"/>
              <a:pathLst>
                <a:path h="2286635" w="10661269">
                  <a:moveTo>
                    <a:pt x="0" y="154686"/>
                  </a:moveTo>
                  <a:cubicBezTo>
                    <a:pt x="0" y="69215"/>
                    <a:pt x="69215" y="0"/>
                    <a:pt x="154686" y="0"/>
                  </a:cubicBezTo>
                  <a:lnTo>
                    <a:pt x="10506583" y="0"/>
                  </a:lnTo>
                  <a:cubicBezTo>
                    <a:pt x="10592053" y="0"/>
                    <a:pt x="10661269" y="69215"/>
                    <a:pt x="10661269" y="154686"/>
                  </a:cubicBezTo>
                  <a:lnTo>
                    <a:pt x="10661269" y="2131949"/>
                  </a:lnTo>
                  <a:cubicBezTo>
                    <a:pt x="10661269" y="2217420"/>
                    <a:pt x="10592053" y="2286635"/>
                    <a:pt x="10506583" y="2286635"/>
                  </a:cubicBezTo>
                  <a:lnTo>
                    <a:pt x="154686" y="2286635"/>
                  </a:lnTo>
                  <a:cubicBezTo>
                    <a:pt x="69215" y="2286635"/>
                    <a:pt x="0" y="2217293"/>
                    <a:pt x="0" y="2131949"/>
                  </a:cubicBezTo>
                  <a:close/>
                </a:path>
              </a:pathLst>
            </a:custGeom>
            <a:solidFill>
              <a:srgbClr val="31136C"/>
            </a:solidFill>
            <a:ln w="9526" cap="sq">
              <a:solidFill>
                <a:srgbClr val="4A2C85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602838" y="6613027"/>
            <a:ext cx="7418194" cy="44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👤</a:t>
            </a:r>
            <a:r>
              <a:rPr lang="en-US" sz="27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 User Data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02838" y="7250906"/>
            <a:ext cx="7418194" cy="50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 b="true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1,340</a:t>
            </a:r>
            <a:r>
              <a:rPr lang="en-US" sz="2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demographic profiles for classification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18727" y="8266957"/>
            <a:ext cx="7986417" cy="94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Exploratory Data Analysis (EDA) revealed pricing trends across multiple flight agencies to understand market distribution.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34476"/>
            <a:ext cx="16303523" cy="808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5"/>
              </a:lnSpc>
            </a:pPr>
            <a:r>
              <a:rPr lang="en-US" sz="49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Flight Price Predictor (Regression)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029720" y="2232870"/>
            <a:ext cx="8814197" cy="4423172"/>
            <a:chOff x="0" y="0"/>
            <a:chExt cx="11752262" cy="589756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1752199" cy="5897626"/>
            </a:xfrm>
            <a:custGeom>
              <a:avLst/>
              <a:gdLst/>
              <a:ahLst/>
              <a:cxnLst/>
              <a:rect r="r" b="b" t="t" l="l"/>
              <a:pathLst>
                <a:path h="5897626" w="11752199">
                  <a:moveTo>
                    <a:pt x="0" y="0"/>
                  </a:moveTo>
                  <a:lnTo>
                    <a:pt x="11752199" y="0"/>
                  </a:lnTo>
                  <a:lnTo>
                    <a:pt x="11752199" y="5897626"/>
                  </a:lnTo>
                  <a:lnTo>
                    <a:pt x="0" y="5897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3" r="0" b="-3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92238" y="6909044"/>
            <a:ext cx="10889161" cy="39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Model Performance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7476" y="7551839"/>
            <a:ext cx="5341591" cy="1534716"/>
            <a:chOff x="0" y="0"/>
            <a:chExt cx="7122122" cy="20462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22033" cy="2046224"/>
            </a:xfrm>
            <a:custGeom>
              <a:avLst/>
              <a:gdLst/>
              <a:ahLst/>
              <a:cxnLst/>
              <a:rect r="r" b="b" t="t" l="l"/>
              <a:pathLst>
                <a:path h="2046224" w="7122033">
                  <a:moveTo>
                    <a:pt x="0" y="142240"/>
                  </a:moveTo>
                  <a:cubicBezTo>
                    <a:pt x="0" y="63754"/>
                    <a:pt x="63754" y="0"/>
                    <a:pt x="142240" y="0"/>
                  </a:cubicBezTo>
                  <a:lnTo>
                    <a:pt x="6979793" y="0"/>
                  </a:lnTo>
                  <a:cubicBezTo>
                    <a:pt x="7058406" y="0"/>
                    <a:pt x="7122033" y="63754"/>
                    <a:pt x="7122033" y="142240"/>
                  </a:cubicBezTo>
                  <a:lnTo>
                    <a:pt x="7122033" y="1903984"/>
                  </a:lnTo>
                  <a:cubicBezTo>
                    <a:pt x="7122033" y="1982597"/>
                    <a:pt x="7058279" y="2046224"/>
                    <a:pt x="6979793" y="2046224"/>
                  </a:cubicBezTo>
                  <a:lnTo>
                    <a:pt x="142240" y="2046224"/>
                  </a:lnTo>
                  <a:cubicBezTo>
                    <a:pt x="63627" y="2046224"/>
                    <a:pt x="0" y="1982470"/>
                    <a:pt x="0" y="1903984"/>
                  </a:cubicBezTo>
                  <a:close/>
                </a:path>
              </a:pathLst>
            </a:custGeom>
            <a:solidFill>
              <a:srgbClr val="31136C"/>
            </a:solidFill>
            <a:ln w="9526" cap="sq">
              <a:solidFill>
                <a:srgbClr val="4A2C85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254176" y="7818539"/>
            <a:ext cx="4808191" cy="39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R² Score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4176" y="8371284"/>
            <a:ext cx="4808191" cy="44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0.84 — Strong Explanatory Power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44418" y="7551839"/>
            <a:ext cx="5341744" cy="1534716"/>
            <a:chOff x="0" y="0"/>
            <a:chExt cx="7122325" cy="2046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22161" cy="2046224"/>
            </a:xfrm>
            <a:custGeom>
              <a:avLst/>
              <a:gdLst/>
              <a:ahLst/>
              <a:cxnLst/>
              <a:rect r="r" b="b" t="t" l="l"/>
              <a:pathLst>
                <a:path h="2046224" w="7122161">
                  <a:moveTo>
                    <a:pt x="0" y="142240"/>
                  </a:moveTo>
                  <a:cubicBezTo>
                    <a:pt x="0" y="63754"/>
                    <a:pt x="63754" y="0"/>
                    <a:pt x="142240" y="0"/>
                  </a:cubicBezTo>
                  <a:lnTo>
                    <a:pt x="6979920" y="0"/>
                  </a:lnTo>
                  <a:cubicBezTo>
                    <a:pt x="7058533" y="0"/>
                    <a:pt x="7122161" y="63754"/>
                    <a:pt x="7122161" y="142240"/>
                  </a:cubicBezTo>
                  <a:lnTo>
                    <a:pt x="7122161" y="1903984"/>
                  </a:lnTo>
                  <a:cubicBezTo>
                    <a:pt x="7122161" y="1982597"/>
                    <a:pt x="7058406" y="2046224"/>
                    <a:pt x="6979920" y="2046224"/>
                  </a:cubicBezTo>
                  <a:lnTo>
                    <a:pt x="142240" y="2046224"/>
                  </a:lnTo>
                  <a:cubicBezTo>
                    <a:pt x="63627" y="2046224"/>
                    <a:pt x="0" y="1982470"/>
                    <a:pt x="0" y="1903984"/>
                  </a:cubicBezTo>
                  <a:close/>
                </a:path>
              </a:pathLst>
            </a:custGeom>
            <a:solidFill>
              <a:srgbClr val="31136C"/>
            </a:solidFill>
            <a:ln w="9526" cap="sq">
              <a:solidFill>
                <a:srgbClr val="4A2C85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6811118" y="7818539"/>
            <a:ext cx="4808344" cy="39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MAE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11118" y="8371284"/>
            <a:ext cx="4808344" cy="44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$102.83 Mean Absolute Error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502305" y="2228107"/>
            <a:ext cx="4807591" cy="1916611"/>
            <a:chOff x="0" y="0"/>
            <a:chExt cx="6410122" cy="25554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10071" cy="2555494"/>
            </a:xfrm>
            <a:custGeom>
              <a:avLst/>
              <a:gdLst/>
              <a:ahLst/>
              <a:cxnLst/>
              <a:rect r="r" b="b" t="t" l="l"/>
              <a:pathLst>
                <a:path h="2555494" w="6410071">
                  <a:moveTo>
                    <a:pt x="0" y="142113"/>
                  </a:moveTo>
                  <a:cubicBezTo>
                    <a:pt x="0" y="63627"/>
                    <a:pt x="63627" y="0"/>
                    <a:pt x="142113" y="0"/>
                  </a:cubicBezTo>
                  <a:lnTo>
                    <a:pt x="6267958" y="0"/>
                  </a:lnTo>
                  <a:cubicBezTo>
                    <a:pt x="6346444" y="0"/>
                    <a:pt x="6410071" y="63627"/>
                    <a:pt x="6410071" y="142113"/>
                  </a:cubicBezTo>
                  <a:lnTo>
                    <a:pt x="6410071" y="2413381"/>
                  </a:lnTo>
                  <a:cubicBezTo>
                    <a:pt x="6410071" y="2491867"/>
                    <a:pt x="6346444" y="2555494"/>
                    <a:pt x="6267958" y="2555494"/>
                  </a:cubicBezTo>
                  <a:lnTo>
                    <a:pt x="142113" y="2555494"/>
                  </a:lnTo>
                  <a:cubicBezTo>
                    <a:pt x="63627" y="2555494"/>
                    <a:pt x="0" y="2491867"/>
                    <a:pt x="0" y="2413381"/>
                  </a:cubicBezTo>
                  <a:close/>
                </a:path>
              </a:pathLst>
            </a:custGeom>
            <a:solidFill>
              <a:srgbClr val="31136C"/>
            </a:solidFill>
            <a:ln w="9526" cap="sq">
              <a:solidFill>
                <a:srgbClr val="4A2C85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2769005" y="2494807"/>
            <a:ext cx="4274191" cy="39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Objective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69005" y="3047552"/>
            <a:ext cx="4274191" cy="830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Predict real-time flight ticket prices based on key journey attributes.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502305" y="4360069"/>
            <a:ext cx="4807591" cy="1534716"/>
            <a:chOff x="0" y="0"/>
            <a:chExt cx="6410122" cy="20462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10071" cy="2046224"/>
            </a:xfrm>
            <a:custGeom>
              <a:avLst/>
              <a:gdLst/>
              <a:ahLst/>
              <a:cxnLst/>
              <a:rect r="r" b="b" t="t" l="l"/>
              <a:pathLst>
                <a:path h="2046224" w="6410071">
                  <a:moveTo>
                    <a:pt x="0" y="142240"/>
                  </a:moveTo>
                  <a:cubicBezTo>
                    <a:pt x="0" y="63754"/>
                    <a:pt x="63754" y="0"/>
                    <a:pt x="142240" y="0"/>
                  </a:cubicBezTo>
                  <a:lnTo>
                    <a:pt x="6267831" y="0"/>
                  </a:lnTo>
                  <a:cubicBezTo>
                    <a:pt x="6346444" y="0"/>
                    <a:pt x="6410071" y="63754"/>
                    <a:pt x="6410071" y="142240"/>
                  </a:cubicBezTo>
                  <a:lnTo>
                    <a:pt x="6410071" y="1903984"/>
                  </a:lnTo>
                  <a:cubicBezTo>
                    <a:pt x="6410071" y="1982597"/>
                    <a:pt x="6346317" y="2046224"/>
                    <a:pt x="6267831" y="2046224"/>
                  </a:cubicBezTo>
                  <a:lnTo>
                    <a:pt x="142240" y="2046224"/>
                  </a:lnTo>
                  <a:cubicBezTo>
                    <a:pt x="63627" y="2046224"/>
                    <a:pt x="0" y="1982470"/>
                    <a:pt x="0" y="1903984"/>
                  </a:cubicBezTo>
                  <a:close/>
                </a:path>
              </a:pathLst>
            </a:custGeom>
            <a:solidFill>
              <a:srgbClr val="31136C"/>
            </a:solidFill>
            <a:ln w="9526" cap="sq">
              <a:solidFill>
                <a:srgbClr val="4A2C85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2769005" y="4626769"/>
            <a:ext cx="4274191" cy="39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Algorithm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69005" y="5179514"/>
            <a:ext cx="4274191" cy="44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RandomForestRegressor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502305" y="6110135"/>
            <a:ext cx="4807591" cy="2455669"/>
            <a:chOff x="0" y="0"/>
            <a:chExt cx="6410122" cy="32742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10198" cy="3274187"/>
            </a:xfrm>
            <a:custGeom>
              <a:avLst/>
              <a:gdLst/>
              <a:ahLst/>
              <a:cxnLst/>
              <a:rect r="r" b="b" t="t" l="l"/>
              <a:pathLst>
                <a:path h="3274187" w="6410198">
                  <a:moveTo>
                    <a:pt x="0" y="141986"/>
                  </a:moveTo>
                  <a:cubicBezTo>
                    <a:pt x="0" y="63500"/>
                    <a:pt x="63500" y="0"/>
                    <a:pt x="141986" y="0"/>
                  </a:cubicBezTo>
                  <a:lnTo>
                    <a:pt x="6268212" y="0"/>
                  </a:lnTo>
                  <a:cubicBezTo>
                    <a:pt x="6346571" y="0"/>
                    <a:pt x="6410198" y="63500"/>
                    <a:pt x="6410198" y="141986"/>
                  </a:cubicBezTo>
                  <a:lnTo>
                    <a:pt x="6410198" y="3132201"/>
                  </a:lnTo>
                  <a:cubicBezTo>
                    <a:pt x="6410198" y="3210560"/>
                    <a:pt x="6346698" y="3274187"/>
                    <a:pt x="6268212" y="3274187"/>
                  </a:cubicBezTo>
                  <a:lnTo>
                    <a:pt x="141986" y="3274187"/>
                  </a:lnTo>
                  <a:cubicBezTo>
                    <a:pt x="63500" y="3274187"/>
                    <a:pt x="0" y="3210687"/>
                    <a:pt x="0" y="3132201"/>
                  </a:cubicBezTo>
                  <a:close/>
                </a:path>
              </a:pathLst>
            </a:custGeom>
            <a:solidFill>
              <a:srgbClr val="31136C"/>
            </a:solidFill>
            <a:ln w="9526" cap="sq">
              <a:solidFill>
                <a:srgbClr val="4A2C85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2769005" y="6376835"/>
            <a:ext cx="4274191" cy="39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Features Engineered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69005" y="6980091"/>
            <a:ext cx="4274191" cy="1319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470" indent="-229235" lvl="1">
              <a:lnSpc>
                <a:spcPts val="2872"/>
              </a:lnSpc>
              <a:buFont typeface="Arial"/>
              <a:buChar char="•"/>
            </a:pPr>
            <a:r>
              <a:rPr lang="en-US" sz="19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Flight duration &amp; distance</a:t>
            </a:r>
          </a:p>
          <a:p>
            <a:pPr algn="l" marL="458470" indent="-229235" lvl="1">
              <a:lnSpc>
                <a:spcPts val="2872"/>
              </a:lnSpc>
              <a:buFont typeface="Arial"/>
              <a:buChar char="•"/>
            </a:pPr>
            <a:r>
              <a:rPr lang="en-US" sz="19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Flight cabin class</a:t>
            </a:r>
          </a:p>
          <a:p>
            <a:pPr algn="l" marL="458470" indent="-229235" lvl="1">
              <a:lnSpc>
                <a:spcPts val="2872"/>
              </a:lnSpc>
              <a:buFont typeface="Arial"/>
              <a:buChar char="•"/>
            </a:pPr>
            <a:r>
              <a:rPr lang="en-US" sz="19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Airline agency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03967"/>
            <a:ext cx="16303523" cy="88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User Gender Classifier (Classification)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2218134"/>
            <a:ext cx="5266734" cy="2492873"/>
            <a:chOff x="0" y="0"/>
            <a:chExt cx="7022313" cy="33238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22338" cy="3323844"/>
            </a:xfrm>
            <a:custGeom>
              <a:avLst/>
              <a:gdLst/>
              <a:ahLst/>
              <a:cxnLst/>
              <a:rect r="r" b="b" t="t" l="l"/>
              <a:pathLst>
                <a:path h="3323844" w="7022338">
                  <a:moveTo>
                    <a:pt x="0" y="154432"/>
                  </a:moveTo>
                  <a:cubicBezTo>
                    <a:pt x="0" y="69088"/>
                    <a:pt x="69088" y="0"/>
                    <a:pt x="154432" y="0"/>
                  </a:cubicBezTo>
                  <a:lnTo>
                    <a:pt x="6867906" y="0"/>
                  </a:lnTo>
                  <a:cubicBezTo>
                    <a:pt x="6953124" y="0"/>
                    <a:pt x="7022338" y="69088"/>
                    <a:pt x="7022338" y="154432"/>
                  </a:cubicBezTo>
                  <a:lnTo>
                    <a:pt x="7022338" y="3169412"/>
                  </a:lnTo>
                  <a:cubicBezTo>
                    <a:pt x="7022338" y="3254629"/>
                    <a:pt x="6953250" y="3323844"/>
                    <a:pt x="6867906" y="3323844"/>
                  </a:cubicBezTo>
                  <a:lnTo>
                    <a:pt x="154432" y="3323844"/>
                  </a:lnTo>
                  <a:cubicBezTo>
                    <a:pt x="69088" y="3323844"/>
                    <a:pt x="0" y="3254756"/>
                    <a:pt x="0" y="3169412"/>
                  </a:cubicBezTo>
                  <a:close/>
                </a:path>
              </a:pathLst>
            </a:custGeom>
            <a:solidFill>
              <a:srgbClr val="31136C"/>
            </a:solidFill>
            <a:ln w="9526" cap="sq">
              <a:solidFill>
                <a:srgbClr val="4A2C85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276350" y="2497484"/>
            <a:ext cx="4688977" cy="43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Objective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6350" y="3019425"/>
            <a:ext cx="4688977" cy="94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Categorize user demographic profiles based on age and corporate affiliation.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10633" y="2218134"/>
            <a:ext cx="5266734" cy="2492873"/>
            <a:chOff x="0" y="0"/>
            <a:chExt cx="7022313" cy="33238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22338" cy="3323844"/>
            </a:xfrm>
            <a:custGeom>
              <a:avLst/>
              <a:gdLst/>
              <a:ahLst/>
              <a:cxnLst/>
              <a:rect r="r" b="b" t="t" l="l"/>
              <a:pathLst>
                <a:path h="3323844" w="7022338">
                  <a:moveTo>
                    <a:pt x="0" y="154432"/>
                  </a:moveTo>
                  <a:cubicBezTo>
                    <a:pt x="0" y="69088"/>
                    <a:pt x="69088" y="0"/>
                    <a:pt x="154432" y="0"/>
                  </a:cubicBezTo>
                  <a:lnTo>
                    <a:pt x="6867906" y="0"/>
                  </a:lnTo>
                  <a:cubicBezTo>
                    <a:pt x="6953124" y="0"/>
                    <a:pt x="7022338" y="69088"/>
                    <a:pt x="7022338" y="154432"/>
                  </a:cubicBezTo>
                  <a:lnTo>
                    <a:pt x="7022338" y="3169412"/>
                  </a:lnTo>
                  <a:cubicBezTo>
                    <a:pt x="7022338" y="3254629"/>
                    <a:pt x="6953250" y="3323844"/>
                    <a:pt x="6867906" y="3323844"/>
                  </a:cubicBezTo>
                  <a:lnTo>
                    <a:pt x="154432" y="3323844"/>
                  </a:lnTo>
                  <a:cubicBezTo>
                    <a:pt x="69088" y="3323844"/>
                    <a:pt x="0" y="3254756"/>
                    <a:pt x="0" y="3169412"/>
                  </a:cubicBezTo>
                  <a:close/>
                </a:path>
              </a:pathLst>
            </a:custGeom>
            <a:solidFill>
              <a:srgbClr val="31136C"/>
            </a:solidFill>
            <a:ln w="9526" cap="sq">
              <a:solidFill>
                <a:srgbClr val="4A2C85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6799507" y="2497484"/>
            <a:ext cx="4688977" cy="43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Algorithm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99507" y="3019425"/>
            <a:ext cx="4688977" cy="50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RandomForestClassifier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33799" y="2218134"/>
            <a:ext cx="5266734" cy="2492873"/>
            <a:chOff x="0" y="0"/>
            <a:chExt cx="7022313" cy="33238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22338" cy="3323844"/>
            </a:xfrm>
            <a:custGeom>
              <a:avLst/>
              <a:gdLst/>
              <a:ahLst/>
              <a:cxnLst/>
              <a:rect r="r" b="b" t="t" l="l"/>
              <a:pathLst>
                <a:path h="3323844" w="7022338">
                  <a:moveTo>
                    <a:pt x="0" y="154432"/>
                  </a:moveTo>
                  <a:cubicBezTo>
                    <a:pt x="0" y="69088"/>
                    <a:pt x="69088" y="0"/>
                    <a:pt x="154432" y="0"/>
                  </a:cubicBezTo>
                  <a:lnTo>
                    <a:pt x="6867906" y="0"/>
                  </a:lnTo>
                  <a:cubicBezTo>
                    <a:pt x="6953124" y="0"/>
                    <a:pt x="7022338" y="69088"/>
                    <a:pt x="7022338" y="154432"/>
                  </a:cubicBezTo>
                  <a:lnTo>
                    <a:pt x="7022338" y="3169412"/>
                  </a:lnTo>
                  <a:cubicBezTo>
                    <a:pt x="7022338" y="3254629"/>
                    <a:pt x="6953250" y="3323844"/>
                    <a:pt x="6867906" y="3323844"/>
                  </a:cubicBezTo>
                  <a:lnTo>
                    <a:pt x="154432" y="3323844"/>
                  </a:lnTo>
                  <a:cubicBezTo>
                    <a:pt x="69088" y="3323844"/>
                    <a:pt x="0" y="3254756"/>
                    <a:pt x="0" y="3169412"/>
                  </a:cubicBezTo>
                  <a:close/>
                </a:path>
              </a:pathLst>
            </a:custGeom>
            <a:solidFill>
              <a:srgbClr val="31136C"/>
            </a:solidFill>
            <a:ln w="9526" cap="sq">
              <a:solidFill>
                <a:srgbClr val="4A2C85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322673" y="2497484"/>
            <a:ext cx="4688977" cy="43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Preprocessing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22673" y="3019425"/>
            <a:ext cx="4688977" cy="1402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Handled invalid data by pre-filtering non-informative classes (e.g., </a:t>
            </a:r>
            <a:r>
              <a:rPr lang="en-US" sz="2100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'none'</a:t>
            </a:r>
            <a:r>
              <a:rPr lang="en-US" sz="2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) to ensure clean binary classification.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688234" y="5005540"/>
            <a:ext cx="8911533" cy="4448766"/>
            <a:chOff x="0" y="0"/>
            <a:chExt cx="11882044" cy="5931687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1881993" cy="5931662"/>
            </a:xfrm>
            <a:custGeom>
              <a:avLst/>
              <a:gdLst/>
              <a:ahLst/>
              <a:cxnLst/>
              <a:rect r="r" b="b" t="t" l="l"/>
              <a:pathLst>
                <a:path h="5931662" w="11881993">
                  <a:moveTo>
                    <a:pt x="0" y="0"/>
                  </a:moveTo>
                  <a:lnTo>
                    <a:pt x="11881993" y="0"/>
                  </a:lnTo>
                  <a:lnTo>
                    <a:pt x="11881993" y="5931662"/>
                  </a:lnTo>
                  <a:lnTo>
                    <a:pt x="0" y="59316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8" r="0" b="-79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79707"/>
            <a:ext cx="16303523" cy="90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Destination Hotel Recommendations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36021" y="3091605"/>
            <a:ext cx="8512673" cy="4249636"/>
            <a:chOff x="0" y="0"/>
            <a:chExt cx="11350231" cy="5666181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1350244" cy="5666232"/>
            </a:xfrm>
            <a:custGeom>
              <a:avLst/>
              <a:gdLst/>
              <a:ahLst/>
              <a:cxnLst/>
              <a:rect r="r" b="b" t="t" l="l"/>
              <a:pathLst>
                <a:path h="5666232" w="11350244">
                  <a:moveTo>
                    <a:pt x="0" y="0"/>
                  </a:moveTo>
                  <a:lnTo>
                    <a:pt x="11350244" y="0"/>
                  </a:lnTo>
                  <a:lnTo>
                    <a:pt x="11350244" y="5666232"/>
                  </a:lnTo>
                  <a:lnTo>
                    <a:pt x="0" y="5666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8" r="0" b="-77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92238" y="7650213"/>
            <a:ext cx="9000230" cy="1519533"/>
            <a:chOff x="0" y="0"/>
            <a:chExt cx="12000306" cy="20260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000357" cy="2026158"/>
            </a:xfrm>
            <a:custGeom>
              <a:avLst/>
              <a:gdLst/>
              <a:ahLst/>
              <a:cxnLst/>
              <a:rect r="r" b="b" t="t" l="l"/>
              <a:pathLst>
                <a:path h="2026158" w="12000357">
                  <a:moveTo>
                    <a:pt x="0" y="156337"/>
                  </a:moveTo>
                  <a:cubicBezTo>
                    <a:pt x="0" y="69977"/>
                    <a:pt x="69977" y="0"/>
                    <a:pt x="156337" y="0"/>
                  </a:cubicBezTo>
                  <a:lnTo>
                    <a:pt x="11844020" y="0"/>
                  </a:lnTo>
                  <a:cubicBezTo>
                    <a:pt x="11930380" y="0"/>
                    <a:pt x="12000357" y="69977"/>
                    <a:pt x="12000357" y="156337"/>
                  </a:cubicBezTo>
                  <a:lnTo>
                    <a:pt x="12000357" y="1869821"/>
                  </a:lnTo>
                  <a:cubicBezTo>
                    <a:pt x="12000357" y="1956181"/>
                    <a:pt x="11930380" y="2026158"/>
                    <a:pt x="11844020" y="2026158"/>
                  </a:cubicBezTo>
                  <a:lnTo>
                    <a:pt x="156337" y="2026158"/>
                  </a:lnTo>
                  <a:cubicBezTo>
                    <a:pt x="69977" y="2026031"/>
                    <a:pt x="0" y="1956054"/>
                    <a:pt x="0" y="1869821"/>
                  </a:cubicBezTo>
                  <a:close/>
                </a:path>
              </a:pathLst>
            </a:custGeom>
            <a:solidFill>
              <a:srgbClr val="31136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71292" y="8055178"/>
            <a:ext cx="348853" cy="279054"/>
            <a:chOff x="0" y="0"/>
            <a:chExt cx="465138" cy="372072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465201" cy="372110"/>
            </a:xfrm>
            <a:custGeom>
              <a:avLst/>
              <a:gdLst/>
              <a:ahLst/>
              <a:cxnLst/>
              <a:rect r="r" b="b" t="t" l="l"/>
              <a:pathLst>
                <a:path h="372110" w="465201">
                  <a:moveTo>
                    <a:pt x="0" y="0"/>
                  </a:moveTo>
                  <a:lnTo>
                    <a:pt x="465201" y="0"/>
                  </a:lnTo>
                  <a:lnTo>
                    <a:pt x="465201" y="372110"/>
                  </a:lnTo>
                  <a:lnTo>
                    <a:pt x="0" y="37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82" r="13" b="-66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899199" y="7890872"/>
            <a:ext cx="7814224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FFFFFF"/>
                </a:solidFill>
                <a:latin typeface="Heebo Light"/>
                <a:ea typeface="Heebo Light"/>
                <a:cs typeface="Heebo Light"/>
                <a:sym typeface="Heebo Light"/>
              </a:rPr>
              <a:t>Rankings are computed dynamically from 40,552 booking logs — no hardcoded placeholders.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677973" y="2396728"/>
            <a:ext cx="3183284" cy="3512048"/>
            <a:chOff x="0" y="0"/>
            <a:chExt cx="4244378" cy="46827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44467" cy="4682744"/>
            </a:xfrm>
            <a:custGeom>
              <a:avLst/>
              <a:gdLst/>
              <a:ahLst/>
              <a:cxnLst/>
              <a:rect r="r" b="b" t="t" l="l"/>
              <a:pathLst>
                <a:path h="4682744" w="4244467">
                  <a:moveTo>
                    <a:pt x="0" y="156845"/>
                  </a:moveTo>
                  <a:cubicBezTo>
                    <a:pt x="0" y="70231"/>
                    <a:pt x="70231" y="0"/>
                    <a:pt x="156845" y="0"/>
                  </a:cubicBezTo>
                  <a:lnTo>
                    <a:pt x="4087622" y="0"/>
                  </a:lnTo>
                  <a:cubicBezTo>
                    <a:pt x="4174236" y="0"/>
                    <a:pt x="4244467" y="70231"/>
                    <a:pt x="4244467" y="156845"/>
                  </a:cubicBezTo>
                  <a:lnTo>
                    <a:pt x="4244467" y="4525899"/>
                  </a:lnTo>
                  <a:cubicBezTo>
                    <a:pt x="4244467" y="4612513"/>
                    <a:pt x="4174236" y="4682744"/>
                    <a:pt x="4087622" y="4682744"/>
                  </a:cubicBezTo>
                  <a:lnTo>
                    <a:pt x="156845" y="4682744"/>
                  </a:lnTo>
                  <a:cubicBezTo>
                    <a:pt x="70231" y="4682744"/>
                    <a:pt x="0" y="4612513"/>
                    <a:pt x="0" y="4525899"/>
                  </a:cubicBezTo>
                  <a:close/>
                </a:path>
              </a:pathLst>
            </a:custGeom>
            <a:solidFill>
              <a:srgbClr val="31136C"/>
            </a:solidFill>
            <a:ln w="9526" cap="sq">
              <a:solidFill>
                <a:srgbClr val="4A2C85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0971314" y="2680545"/>
            <a:ext cx="2596601" cy="445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Objective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71314" y="3324673"/>
            <a:ext cx="2596601" cy="2290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Suggest the top-ranked hotels for any selected travel destination in the dataset.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4126470" y="2396728"/>
            <a:ext cx="3183436" cy="3512048"/>
            <a:chOff x="0" y="0"/>
            <a:chExt cx="4244581" cy="46827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44594" cy="4682744"/>
            </a:xfrm>
            <a:custGeom>
              <a:avLst/>
              <a:gdLst/>
              <a:ahLst/>
              <a:cxnLst/>
              <a:rect r="r" b="b" t="t" l="l"/>
              <a:pathLst>
                <a:path h="4682744" w="4244594">
                  <a:moveTo>
                    <a:pt x="0" y="156718"/>
                  </a:moveTo>
                  <a:cubicBezTo>
                    <a:pt x="0" y="70231"/>
                    <a:pt x="70231" y="0"/>
                    <a:pt x="156718" y="0"/>
                  </a:cubicBezTo>
                  <a:lnTo>
                    <a:pt x="4087876" y="0"/>
                  </a:lnTo>
                  <a:cubicBezTo>
                    <a:pt x="4174490" y="0"/>
                    <a:pt x="4244594" y="70231"/>
                    <a:pt x="4244594" y="156718"/>
                  </a:cubicBezTo>
                  <a:lnTo>
                    <a:pt x="4244594" y="4526026"/>
                  </a:lnTo>
                  <a:cubicBezTo>
                    <a:pt x="4244594" y="4612640"/>
                    <a:pt x="4174363" y="4682744"/>
                    <a:pt x="4087876" y="4682744"/>
                  </a:cubicBezTo>
                  <a:lnTo>
                    <a:pt x="156718" y="4682744"/>
                  </a:lnTo>
                  <a:cubicBezTo>
                    <a:pt x="70231" y="4682744"/>
                    <a:pt x="0" y="4612513"/>
                    <a:pt x="0" y="4526026"/>
                  </a:cubicBezTo>
                  <a:close/>
                </a:path>
              </a:pathLst>
            </a:custGeom>
            <a:solidFill>
              <a:srgbClr val="31136C"/>
            </a:solidFill>
            <a:ln w="9526" cap="sq">
              <a:solidFill>
                <a:srgbClr val="4A2C85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4419812" y="2680545"/>
            <a:ext cx="2596753" cy="445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Algorithm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419812" y="3324673"/>
            <a:ext cx="2596753" cy="1404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Popularity-Based Recommendation Matrix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677973" y="6173981"/>
            <a:ext cx="6631934" cy="2626223"/>
            <a:chOff x="0" y="0"/>
            <a:chExt cx="8842578" cy="350163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842501" cy="3501644"/>
            </a:xfrm>
            <a:custGeom>
              <a:avLst/>
              <a:gdLst/>
              <a:ahLst/>
              <a:cxnLst/>
              <a:rect r="r" b="b" t="t" l="l"/>
              <a:pathLst>
                <a:path h="3501644" w="8842501">
                  <a:moveTo>
                    <a:pt x="0" y="156845"/>
                  </a:moveTo>
                  <a:cubicBezTo>
                    <a:pt x="0" y="70231"/>
                    <a:pt x="70231" y="0"/>
                    <a:pt x="156845" y="0"/>
                  </a:cubicBezTo>
                  <a:lnTo>
                    <a:pt x="8685657" y="0"/>
                  </a:lnTo>
                  <a:cubicBezTo>
                    <a:pt x="8772271" y="0"/>
                    <a:pt x="8842501" y="70231"/>
                    <a:pt x="8842501" y="156845"/>
                  </a:cubicBezTo>
                  <a:lnTo>
                    <a:pt x="8842501" y="3344799"/>
                  </a:lnTo>
                  <a:cubicBezTo>
                    <a:pt x="8842501" y="3431413"/>
                    <a:pt x="8772271" y="3501644"/>
                    <a:pt x="8685657" y="3501644"/>
                  </a:cubicBezTo>
                  <a:lnTo>
                    <a:pt x="156845" y="3501644"/>
                  </a:lnTo>
                  <a:cubicBezTo>
                    <a:pt x="70231" y="3501644"/>
                    <a:pt x="0" y="3431413"/>
                    <a:pt x="0" y="3344799"/>
                  </a:cubicBezTo>
                  <a:close/>
                </a:path>
              </a:pathLst>
            </a:custGeom>
            <a:solidFill>
              <a:srgbClr val="31136C"/>
            </a:solidFill>
            <a:ln w="9526" cap="sq">
              <a:solidFill>
                <a:srgbClr val="4A2C85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0971314" y="6457798"/>
            <a:ext cx="6045251" cy="445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Methodology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71314" y="7101926"/>
            <a:ext cx="6045251" cy="1404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Aggregated historical booking frequencies per location to extract and rank the </a:t>
            </a:r>
            <a:r>
              <a:rPr lang="en-US" sz="2100" b="true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top 3 hotels</a:t>
            </a:r>
            <a:r>
              <a:rPr lang="en-US" sz="2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dynamically for each destination.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21979"/>
            <a:ext cx="16303523" cy="88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MLOps &amp; Model Performance Tracking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3188" y="2221859"/>
            <a:ext cx="5295300" cy="2982668"/>
            <a:chOff x="0" y="0"/>
            <a:chExt cx="7060400" cy="39768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60438" cy="3976878"/>
            </a:xfrm>
            <a:custGeom>
              <a:avLst/>
              <a:gdLst/>
              <a:ahLst/>
              <a:cxnLst/>
              <a:rect r="r" b="b" t="t" l="l"/>
              <a:pathLst>
                <a:path h="3976878" w="7060438">
                  <a:moveTo>
                    <a:pt x="0" y="155829"/>
                  </a:moveTo>
                  <a:cubicBezTo>
                    <a:pt x="0" y="69723"/>
                    <a:pt x="69723" y="0"/>
                    <a:pt x="155829" y="0"/>
                  </a:cubicBezTo>
                  <a:lnTo>
                    <a:pt x="6904610" y="0"/>
                  </a:lnTo>
                  <a:cubicBezTo>
                    <a:pt x="6990715" y="0"/>
                    <a:pt x="7060438" y="69723"/>
                    <a:pt x="7060438" y="155829"/>
                  </a:cubicBezTo>
                  <a:lnTo>
                    <a:pt x="7060438" y="3821049"/>
                  </a:lnTo>
                  <a:cubicBezTo>
                    <a:pt x="7060438" y="3907155"/>
                    <a:pt x="6990715" y="3976878"/>
                    <a:pt x="6904610" y="3976878"/>
                  </a:cubicBezTo>
                  <a:lnTo>
                    <a:pt x="155829" y="3976878"/>
                  </a:lnTo>
                  <a:cubicBezTo>
                    <a:pt x="69723" y="3976878"/>
                    <a:pt x="0" y="3907155"/>
                    <a:pt x="0" y="3821049"/>
                  </a:cubicBez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  <a:ln w="38100" cap="sq">
              <a:solidFill>
                <a:srgbClr val="4A2C85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304925" y="2544070"/>
            <a:ext cx="4631827" cy="43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MLflow Integration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4925" y="3066012"/>
            <a:ext cx="4631827" cy="1806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Offline evaluation and experiment tracking — logging metrics, parameters, and model artifacts across every training run.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496345" y="2221859"/>
            <a:ext cx="5295300" cy="2982668"/>
            <a:chOff x="0" y="0"/>
            <a:chExt cx="7060400" cy="39768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60438" cy="3976878"/>
            </a:xfrm>
            <a:custGeom>
              <a:avLst/>
              <a:gdLst/>
              <a:ahLst/>
              <a:cxnLst/>
              <a:rect r="r" b="b" t="t" l="l"/>
              <a:pathLst>
                <a:path h="3976878" w="7060438">
                  <a:moveTo>
                    <a:pt x="0" y="155829"/>
                  </a:moveTo>
                  <a:cubicBezTo>
                    <a:pt x="0" y="69723"/>
                    <a:pt x="69723" y="0"/>
                    <a:pt x="155829" y="0"/>
                  </a:cubicBezTo>
                  <a:lnTo>
                    <a:pt x="6904610" y="0"/>
                  </a:lnTo>
                  <a:cubicBezTo>
                    <a:pt x="6990715" y="0"/>
                    <a:pt x="7060438" y="69723"/>
                    <a:pt x="7060438" y="155829"/>
                  </a:cubicBezTo>
                  <a:lnTo>
                    <a:pt x="7060438" y="3821049"/>
                  </a:lnTo>
                  <a:cubicBezTo>
                    <a:pt x="7060438" y="3907155"/>
                    <a:pt x="6990715" y="3976878"/>
                    <a:pt x="6904610" y="3976878"/>
                  </a:cubicBezTo>
                  <a:lnTo>
                    <a:pt x="155829" y="3976878"/>
                  </a:lnTo>
                  <a:cubicBezTo>
                    <a:pt x="69723" y="3976878"/>
                    <a:pt x="0" y="3907155"/>
                    <a:pt x="0" y="3821049"/>
                  </a:cubicBez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  <a:ln w="38100" cap="sq">
              <a:solidFill>
                <a:srgbClr val="4A2C85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6828082" y="2544070"/>
            <a:ext cx="4631827" cy="43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Dynamic Dashboard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28082" y="3066012"/>
            <a:ext cx="4631827" cy="137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The Streamlit app calculates and displays real metrics on the fly rather than using hardcoded placeholders.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19512" y="2221859"/>
            <a:ext cx="5295300" cy="2982668"/>
            <a:chOff x="0" y="0"/>
            <a:chExt cx="7060400" cy="39768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60438" cy="3976878"/>
            </a:xfrm>
            <a:custGeom>
              <a:avLst/>
              <a:gdLst/>
              <a:ahLst/>
              <a:cxnLst/>
              <a:rect r="r" b="b" t="t" l="l"/>
              <a:pathLst>
                <a:path h="3976878" w="7060438">
                  <a:moveTo>
                    <a:pt x="0" y="155829"/>
                  </a:moveTo>
                  <a:cubicBezTo>
                    <a:pt x="0" y="69723"/>
                    <a:pt x="69723" y="0"/>
                    <a:pt x="155829" y="0"/>
                  </a:cubicBezTo>
                  <a:lnTo>
                    <a:pt x="6904610" y="0"/>
                  </a:lnTo>
                  <a:cubicBezTo>
                    <a:pt x="6990715" y="0"/>
                    <a:pt x="7060438" y="69723"/>
                    <a:pt x="7060438" y="155829"/>
                  </a:cubicBezTo>
                  <a:lnTo>
                    <a:pt x="7060438" y="3821049"/>
                  </a:lnTo>
                  <a:cubicBezTo>
                    <a:pt x="7060438" y="3907155"/>
                    <a:pt x="6990715" y="3976878"/>
                    <a:pt x="6904610" y="3976878"/>
                  </a:cubicBezTo>
                  <a:lnTo>
                    <a:pt x="155829" y="3976878"/>
                  </a:lnTo>
                  <a:cubicBezTo>
                    <a:pt x="69723" y="3976878"/>
                    <a:pt x="0" y="3907155"/>
                    <a:pt x="0" y="3821049"/>
                  </a:cubicBez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  <a:ln w="38100" cap="sq">
              <a:solidFill>
                <a:srgbClr val="4A2C85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351248" y="2544070"/>
            <a:ext cx="4631827" cy="43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Experiment Configs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51248" y="3066012"/>
            <a:ext cx="4631827" cy="1806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Track dynamic model performance metrics and experiment configurations across iterations for reproducibility.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161207" y="5484762"/>
            <a:ext cx="7965434" cy="3951532"/>
            <a:chOff x="0" y="0"/>
            <a:chExt cx="10620578" cy="5268709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0620629" cy="5268722"/>
            </a:xfrm>
            <a:custGeom>
              <a:avLst/>
              <a:gdLst/>
              <a:ahLst/>
              <a:cxnLst/>
              <a:rect r="r" b="b" t="t" l="l"/>
              <a:pathLst>
                <a:path h="5268722" w="10620629">
                  <a:moveTo>
                    <a:pt x="0" y="0"/>
                  </a:moveTo>
                  <a:lnTo>
                    <a:pt x="10620629" y="0"/>
                  </a:lnTo>
                  <a:lnTo>
                    <a:pt x="10620629" y="5268722"/>
                  </a:lnTo>
                  <a:lnTo>
                    <a:pt x="0" y="5268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" t="0" r="-26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51132"/>
            <a:ext cx="16303523" cy="90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Team Contributions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5854894"/>
            <a:ext cx="16303523" cy="38100"/>
            <a:chOff x="0" y="0"/>
            <a:chExt cx="21738031" cy="50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38082" cy="50800"/>
            </a:xfrm>
            <a:custGeom>
              <a:avLst/>
              <a:gdLst/>
              <a:ahLst/>
              <a:cxnLst/>
              <a:rect r="r" b="b" t="t" l="l"/>
              <a:pathLst>
                <a:path h="50800" w="2173808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21712682" y="0"/>
                  </a:lnTo>
                  <a:cubicBezTo>
                    <a:pt x="21726652" y="0"/>
                    <a:pt x="21738082" y="11430"/>
                    <a:pt x="21738082" y="25400"/>
                  </a:cubicBezTo>
                  <a:cubicBezTo>
                    <a:pt x="21738082" y="39370"/>
                    <a:pt x="21726652" y="50800"/>
                    <a:pt x="217126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4A2C8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4130726" y="5017665"/>
            <a:ext cx="38100" cy="837305"/>
            <a:chOff x="0" y="0"/>
            <a:chExt cx="50800" cy="11164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800" cy="1116457"/>
            </a:xfrm>
            <a:custGeom>
              <a:avLst/>
              <a:gdLst/>
              <a:ahLst/>
              <a:cxnLst/>
              <a:rect r="r" b="b" t="t" l="l"/>
              <a:pathLst>
                <a:path h="1116457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091057"/>
                  </a:lnTo>
                  <a:cubicBezTo>
                    <a:pt x="50800" y="1105027"/>
                    <a:pt x="39370" y="1116457"/>
                    <a:pt x="25400" y="1116457"/>
                  </a:cubicBezTo>
                  <a:cubicBezTo>
                    <a:pt x="11430" y="1116457"/>
                    <a:pt x="0" y="1105027"/>
                    <a:pt x="0" y="1091057"/>
                  </a:cubicBezTo>
                  <a:close/>
                </a:path>
              </a:pathLst>
            </a:custGeom>
            <a:solidFill>
              <a:srgbClr val="4A2C8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831136" y="5536187"/>
            <a:ext cx="637432" cy="637432"/>
            <a:chOff x="0" y="0"/>
            <a:chExt cx="849909" cy="8499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49884" cy="849884"/>
            </a:xfrm>
            <a:custGeom>
              <a:avLst/>
              <a:gdLst/>
              <a:ahLst/>
              <a:cxnLst/>
              <a:rect r="r" b="b" t="t" l="l"/>
              <a:pathLst>
                <a:path h="849884" w="849884">
                  <a:moveTo>
                    <a:pt x="0" y="158623"/>
                  </a:moveTo>
                  <a:cubicBezTo>
                    <a:pt x="0" y="70993"/>
                    <a:pt x="70993" y="0"/>
                    <a:pt x="158623" y="0"/>
                  </a:cubicBezTo>
                  <a:lnTo>
                    <a:pt x="691261" y="0"/>
                  </a:lnTo>
                  <a:cubicBezTo>
                    <a:pt x="778891" y="0"/>
                    <a:pt x="849884" y="70993"/>
                    <a:pt x="849884" y="158623"/>
                  </a:cubicBezTo>
                  <a:lnTo>
                    <a:pt x="849884" y="691261"/>
                  </a:lnTo>
                  <a:cubicBezTo>
                    <a:pt x="849884" y="778891"/>
                    <a:pt x="778891" y="849884"/>
                    <a:pt x="691261" y="849884"/>
                  </a:cubicBezTo>
                  <a:lnTo>
                    <a:pt x="158623" y="849884"/>
                  </a:lnTo>
                  <a:cubicBezTo>
                    <a:pt x="70993" y="849884"/>
                    <a:pt x="0" y="778891"/>
                    <a:pt x="0" y="691261"/>
                  </a:cubicBezTo>
                  <a:close/>
                </a:path>
              </a:pathLst>
            </a:custGeom>
            <a:solidFill>
              <a:srgbClr val="31136C"/>
            </a:solidFill>
            <a:ln w="9526" cap="sq">
              <a:solidFill>
                <a:srgbClr val="4A2C85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3940445" y="5593185"/>
            <a:ext cx="418652" cy="523284"/>
            <a:chOff x="0" y="0"/>
            <a:chExt cx="558203" cy="6977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58205" cy="697707"/>
            </a:xfrm>
            <a:custGeom>
              <a:avLst/>
              <a:gdLst/>
              <a:ahLst/>
              <a:cxnLst/>
              <a:rect r="r" b="b" t="t" l="l"/>
              <a:pathLst>
                <a:path h="697707" w="558205">
                  <a:moveTo>
                    <a:pt x="0" y="0"/>
                  </a:moveTo>
                  <a:lnTo>
                    <a:pt x="558205" y="0"/>
                  </a:lnTo>
                  <a:lnTo>
                    <a:pt x="558205" y="697707"/>
                  </a:lnTo>
                  <a:lnTo>
                    <a:pt x="0" y="6977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69" t="0" r="-110369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558203" cy="6977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DCD7E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71292" y="2191788"/>
            <a:ext cx="5757272" cy="445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Abhinav Reddy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1292" y="2725941"/>
            <a:ext cx="5757272" cy="2012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6"/>
              </a:lnSpc>
            </a:pPr>
            <a:r>
              <a:rPr lang="en-US" sz="2100" i="tru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Full-Stack ML Engineer &amp; UI Integrator</a:t>
            </a:r>
          </a:p>
          <a:p>
            <a:pPr algn="ctr">
              <a:lnSpc>
                <a:spcPts val="3326"/>
              </a:lnSpc>
            </a:pPr>
            <a:r>
              <a:rPr lang="en-US" sz="2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Designed the multi-tab Streamlit dashboard, integrated .pkl artifacts, and managed cloud deployment.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460009" y="5854827"/>
            <a:ext cx="38100" cy="837305"/>
            <a:chOff x="0" y="0"/>
            <a:chExt cx="50800" cy="111640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800" cy="1116457"/>
            </a:xfrm>
            <a:custGeom>
              <a:avLst/>
              <a:gdLst/>
              <a:ahLst/>
              <a:cxnLst/>
              <a:rect r="r" b="b" t="t" l="l"/>
              <a:pathLst>
                <a:path h="1116457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091057"/>
                  </a:lnTo>
                  <a:cubicBezTo>
                    <a:pt x="50800" y="1105027"/>
                    <a:pt x="39370" y="1116457"/>
                    <a:pt x="25400" y="1116457"/>
                  </a:cubicBezTo>
                  <a:cubicBezTo>
                    <a:pt x="11430" y="1116457"/>
                    <a:pt x="0" y="1105027"/>
                    <a:pt x="0" y="1091057"/>
                  </a:cubicBezTo>
                  <a:close/>
                </a:path>
              </a:pathLst>
            </a:custGeom>
            <a:solidFill>
              <a:srgbClr val="4A2C8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160419" y="5536187"/>
            <a:ext cx="637432" cy="637432"/>
            <a:chOff x="0" y="0"/>
            <a:chExt cx="849909" cy="8499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49884" cy="849884"/>
            </a:xfrm>
            <a:custGeom>
              <a:avLst/>
              <a:gdLst/>
              <a:ahLst/>
              <a:cxnLst/>
              <a:rect r="r" b="b" t="t" l="l"/>
              <a:pathLst>
                <a:path h="849884" w="849884">
                  <a:moveTo>
                    <a:pt x="0" y="158623"/>
                  </a:moveTo>
                  <a:cubicBezTo>
                    <a:pt x="0" y="70993"/>
                    <a:pt x="70993" y="0"/>
                    <a:pt x="158623" y="0"/>
                  </a:cubicBezTo>
                  <a:lnTo>
                    <a:pt x="691261" y="0"/>
                  </a:lnTo>
                  <a:cubicBezTo>
                    <a:pt x="778891" y="0"/>
                    <a:pt x="849884" y="70993"/>
                    <a:pt x="849884" y="158623"/>
                  </a:cubicBezTo>
                  <a:lnTo>
                    <a:pt x="849884" y="691261"/>
                  </a:lnTo>
                  <a:cubicBezTo>
                    <a:pt x="849884" y="778891"/>
                    <a:pt x="778891" y="849884"/>
                    <a:pt x="691261" y="849884"/>
                  </a:cubicBezTo>
                  <a:lnTo>
                    <a:pt x="158623" y="849884"/>
                  </a:lnTo>
                  <a:cubicBezTo>
                    <a:pt x="70993" y="849884"/>
                    <a:pt x="0" y="778891"/>
                    <a:pt x="0" y="691261"/>
                  </a:cubicBezTo>
                  <a:close/>
                </a:path>
              </a:pathLst>
            </a:custGeom>
            <a:solidFill>
              <a:srgbClr val="31136C"/>
            </a:solidFill>
            <a:ln w="9526" cap="sq">
              <a:solidFill>
                <a:srgbClr val="4A2C85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7269737" y="5593185"/>
            <a:ext cx="418652" cy="523284"/>
            <a:chOff x="0" y="0"/>
            <a:chExt cx="558203" cy="69771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58205" cy="697707"/>
            </a:xfrm>
            <a:custGeom>
              <a:avLst/>
              <a:gdLst/>
              <a:ahLst/>
              <a:cxnLst/>
              <a:rect r="r" b="b" t="t" l="l"/>
              <a:pathLst>
                <a:path h="697707" w="558205">
                  <a:moveTo>
                    <a:pt x="0" y="0"/>
                  </a:moveTo>
                  <a:lnTo>
                    <a:pt x="558205" y="0"/>
                  </a:lnTo>
                  <a:lnTo>
                    <a:pt x="558205" y="697707"/>
                  </a:lnTo>
                  <a:lnTo>
                    <a:pt x="0" y="6977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69" t="0" r="-110369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558203" cy="6977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DCD7E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600575" y="6961737"/>
            <a:ext cx="5757272" cy="445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Kartik Bingi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600575" y="7495880"/>
            <a:ext cx="5757272" cy="2012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6"/>
              </a:lnSpc>
            </a:pPr>
            <a:r>
              <a:rPr lang="en-US" sz="2100" i="tru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Lead Data Scientist</a:t>
            </a:r>
          </a:p>
          <a:p>
            <a:pPr algn="ctr">
              <a:lnSpc>
                <a:spcPts val="3326"/>
              </a:lnSpc>
            </a:pPr>
            <a:r>
              <a:rPr lang="en-US" sz="2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Preprocessed flight datasets, trained the price regression model, and managed MLflow tracking.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789444" y="5017665"/>
            <a:ext cx="38100" cy="837305"/>
            <a:chOff x="0" y="0"/>
            <a:chExt cx="50800" cy="111640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800" cy="1116457"/>
            </a:xfrm>
            <a:custGeom>
              <a:avLst/>
              <a:gdLst/>
              <a:ahLst/>
              <a:cxnLst/>
              <a:rect r="r" b="b" t="t" l="l"/>
              <a:pathLst>
                <a:path h="1116457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091057"/>
                  </a:lnTo>
                  <a:cubicBezTo>
                    <a:pt x="50800" y="1105027"/>
                    <a:pt x="39370" y="1116457"/>
                    <a:pt x="25400" y="1116457"/>
                  </a:cubicBezTo>
                  <a:cubicBezTo>
                    <a:pt x="11430" y="1116457"/>
                    <a:pt x="0" y="1105027"/>
                    <a:pt x="0" y="1091057"/>
                  </a:cubicBezTo>
                  <a:close/>
                </a:path>
              </a:pathLst>
            </a:custGeom>
            <a:solidFill>
              <a:srgbClr val="4A2C85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489854" y="5536187"/>
            <a:ext cx="637432" cy="637432"/>
            <a:chOff x="0" y="0"/>
            <a:chExt cx="849909" cy="84990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49884" cy="849884"/>
            </a:xfrm>
            <a:custGeom>
              <a:avLst/>
              <a:gdLst/>
              <a:ahLst/>
              <a:cxnLst/>
              <a:rect r="r" b="b" t="t" l="l"/>
              <a:pathLst>
                <a:path h="849884" w="849884">
                  <a:moveTo>
                    <a:pt x="0" y="158623"/>
                  </a:moveTo>
                  <a:cubicBezTo>
                    <a:pt x="0" y="70993"/>
                    <a:pt x="70993" y="0"/>
                    <a:pt x="158623" y="0"/>
                  </a:cubicBezTo>
                  <a:lnTo>
                    <a:pt x="691261" y="0"/>
                  </a:lnTo>
                  <a:cubicBezTo>
                    <a:pt x="778891" y="0"/>
                    <a:pt x="849884" y="70993"/>
                    <a:pt x="849884" y="158623"/>
                  </a:cubicBezTo>
                  <a:lnTo>
                    <a:pt x="849884" y="691261"/>
                  </a:lnTo>
                  <a:cubicBezTo>
                    <a:pt x="849884" y="778891"/>
                    <a:pt x="778891" y="849884"/>
                    <a:pt x="691261" y="849884"/>
                  </a:cubicBezTo>
                  <a:lnTo>
                    <a:pt x="158623" y="849884"/>
                  </a:lnTo>
                  <a:cubicBezTo>
                    <a:pt x="70993" y="849884"/>
                    <a:pt x="0" y="778891"/>
                    <a:pt x="0" y="691261"/>
                  </a:cubicBezTo>
                  <a:close/>
                </a:path>
              </a:pathLst>
            </a:custGeom>
            <a:solidFill>
              <a:srgbClr val="31136C"/>
            </a:solidFill>
            <a:ln w="9526" cap="sq">
              <a:solidFill>
                <a:srgbClr val="4A2C8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0599163" y="5593185"/>
            <a:ext cx="418652" cy="523284"/>
            <a:chOff x="0" y="0"/>
            <a:chExt cx="558203" cy="69771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58205" cy="697707"/>
            </a:xfrm>
            <a:custGeom>
              <a:avLst/>
              <a:gdLst/>
              <a:ahLst/>
              <a:cxnLst/>
              <a:rect r="r" b="b" t="t" l="l"/>
              <a:pathLst>
                <a:path h="697707" w="558205">
                  <a:moveTo>
                    <a:pt x="0" y="0"/>
                  </a:moveTo>
                  <a:lnTo>
                    <a:pt x="558205" y="0"/>
                  </a:lnTo>
                  <a:lnTo>
                    <a:pt x="558205" y="697707"/>
                  </a:lnTo>
                  <a:lnTo>
                    <a:pt x="0" y="6977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69" t="0" r="-110369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558203" cy="6977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DCD7E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7930010" y="2191788"/>
            <a:ext cx="5757272" cy="445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Kirti Dixit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930010" y="2725941"/>
            <a:ext cx="5757272" cy="2012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6"/>
              </a:lnSpc>
            </a:pPr>
            <a:r>
              <a:rPr lang="en-US" sz="2100" i="tru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Data Scientist</a:t>
            </a:r>
          </a:p>
          <a:p>
            <a:pPr algn="ctr">
              <a:lnSpc>
                <a:spcPts val="3326"/>
              </a:lnSpc>
            </a:pPr>
            <a:r>
              <a:rPr lang="en-US" sz="2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Cleaned user profiles, developed the classification model, and constructed the hotel recommendation matrix.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4118727" y="5854827"/>
            <a:ext cx="38100" cy="837305"/>
            <a:chOff x="0" y="0"/>
            <a:chExt cx="50800" cy="111640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0800" cy="1116457"/>
            </a:xfrm>
            <a:custGeom>
              <a:avLst/>
              <a:gdLst/>
              <a:ahLst/>
              <a:cxnLst/>
              <a:rect r="r" b="b" t="t" l="l"/>
              <a:pathLst>
                <a:path h="1116457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091057"/>
                  </a:lnTo>
                  <a:cubicBezTo>
                    <a:pt x="50800" y="1105027"/>
                    <a:pt x="39370" y="1116457"/>
                    <a:pt x="25400" y="1116457"/>
                  </a:cubicBezTo>
                  <a:cubicBezTo>
                    <a:pt x="11430" y="1116457"/>
                    <a:pt x="0" y="1105027"/>
                    <a:pt x="0" y="1091057"/>
                  </a:cubicBezTo>
                  <a:close/>
                </a:path>
              </a:pathLst>
            </a:custGeom>
            <a:solidFill>
              <a:srgbClr val="4A2C85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819137" y="5536187"/>
            <a:ext cx="637432" cy="637432"/>
            <a:chOff x="0" y="0"/>
            <a:chExt cx="849909" cy="84990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49884" cy="849884"/>
            </a:xfrm>
            <a:custGeom>
              <a:avLst/>
              <a:gdLst/>
              <a:ahLst/>
              <a:cxnLst/>
              <a:rect r="r" b="b" t="t" l="l"/>
              <a:pathLst>
                <a:path h="849884" w="849884">
                  <a:moveTo>
                    <a:pt x="0" y="158623"/>
                  </a:moveTo>
                  <a:cubicBezTo>
                    <a:pt x="0" y="70993"/>
                    <a:pt x="70993" y="0"/>
                    <a:pt x="158623" y="0"/>
                  </a:cubicBezTo>
                  <a:lnTo>
                    <a:pt x="691261" y="0"/>
                  </a:lnTo>
                  <a:cubicBezTo>
                    <a:pt x="778891" y="0"/>
                    <a:pt x="849884" y="70993"/>
                    <a:pt x="849884" y="158623"/>
                  </a:cubicBezTo>
                  <a:lnTo>
                    <a:pt x="849884" y="691261"/>
                  </a:lnTo>
                  <a:cubicBezTo>
                    <a:pt x="849884" y="778891"/>
                    <a:pt x="778891" y="849884"/>
                    <a:pt x="691261" y="849884"/>
                  </a:cubicBezTo>
                  <a:lnTo>
                    <a:pt x="158623" y="849884"/>
                  </a:lnTo>
                  <a:cubicBezTo>
                    <a:pt x="70993" y="849884"/>
                    <a:pt x="0" y="778891"/>
                    <a:pt x="0" y="691261"/>
                  </a:cubicBezTo>
                  <a:close/>
                </a:path>
              </a:pathLst>
            </a:custGeom>
            <a:solidFill>
              <a:srgbClr val="31136C"/>
            </a:solidFill>
            <a:ln w="9526" cap="sq">
              <a:solidFill>
                <a:srgbClr val="4A2C85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3928455" y="5593185"/>
            <a:ext cx="418652" cy="523284"/>
            <a:chOff x="0" y="0"/>
            <a:chExt cx="558203" cy="69771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58205" cy="697707"/>
            </a:xfrm>
            <a:custGeom>
              <a:avLst/>
              <a:gdLst/>
              <a:ahLst/>
              <a:cxnLst/>
              <a:rect r="r" b="b" t="t" l="l"/>
              <a:pathLst>
                <a:path h="697707" w="558205">
                  <a:moveTo>
                    <a:pt x="0" y="0"/>
                  </a:moveTo>
                  <a:lnTo>
                    <a:pt x="558205" y="0"/>
                  </a:lnTo>
                  <a:lnTo>
                    <a:pt x="558205" y="697707"/>
                  </a:lnTo>
                  <a:lnTo>
                    <a:pt x="0" y="6977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69" t="0" r="-110369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558203" cy="6977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DCD7E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1259293" y="6961737"/>
            <a:ext cx="5757272" cy="445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Sourabh Khamankar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259293" y="7495880"/>
            <a:ext cx="5757272" cy="2012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6"/>
              </a:lnSpc>
            </a:pPr>
            <a:r>
              <a:rPr lang="en-US" sz="2100" i="tru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Data Analyst &amp; Infrastructure Specialist</a:t>
            </a:r>
          </a:p>
          <a:p>
            <a:pPr algn="ctr">
              <a:lnSpc>
                <a:spcPts val="3326"/>
              </a:lnSpc>
            </a:pPr>
            <a:r>
              <a:rPr lang="en-US" sz="2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Conducted EDA, designed dark-themed visualizations, and managed virtual environment configurations.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530401"/>
            <a:ext cx="16303523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Conclusion &amp; Q&amp;A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793949"/>
            <a:ext cx="17217923" cy="52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Voyage Analytics successfully transforms static travel data into a </a:t>
            </a:r>
            <a:r>
              <a:rPr lang="en-US" sz="2200" b="true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live, interactive, and scalable MLOps platform</a:t>
            </a:r>
            <a:r>
              <a:rPr lang="en-US" sz="2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739458"/>
            <a:ext cx="1630352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Future Scope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13630" y="4607566"/>
            <a:ext cx="15382132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Real-Time API Integration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13630" y="5153920"/>
            <a:ext cx="15382132" cy="52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Integrating live flight tracking APIs for up-to-the-minute data feeds.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13630" y="6241256"/>
            <a:ext cx="15382132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Deep Learning Models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13630" y="6787601"/>
            <a:ext cx="15382132" cy="52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Deploying advanced neural networks for personalized recommendation systems.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0244" y="7802909"/>
            <a:ext cx="16792727" cy="60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4"/>
              </a:lnSpc>
            </a:pPr>
            <a:r>
              <a:rPr lang="en-US" sz="4000" b="true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Thank You</a:t>
            </a:r>
            <a:r>
              <a:rPr lang="en-US" sz="40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92238" y="7636373"/>
            <a:ext cx="38100" cy="1091508"/>
            <a:chOff x="0" y="0"/>
            <a:chExt cx="50800" cy="14553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800" cy="1455293"/>
            </a:xfrm>
            <a:custGeom>
              <a:avLst/>
              <a:gdLst/>
              <a:ahLst/>
              <a:cxnLst/>
              <a:rect r="r" b="b" t="t" l="l"/>
              <a:pathLst>
                <a:path h="1455293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429893"/>
                  </a:lnTo>
                  <a:cubicBezTo>
                    <a:pt x="50800" y="1443863"/>
                    <a:pt x="39370" y="1455293"/>
                    <a:pt x="25400" y="1455293"/>
                  </a:cubicBezTo>
                  <a:cubicBezTo>
                    <a:pt x="11430" y="1455293"/>
                    <a:pt x="0" y="1443863"/>
                    <a:pt x="0" y="1429893"/>
                  </a:cubicBezTo>
                  <a:close/>
                </a:path>
              </a:pathLst>
            </a:custGeom>
            <a:solidFill>
              <a:srgbClr val="481C9E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DAHSEPHqGg4</dc:identifier>
  <dcterms:modified xsi:type="dcterms:W3CDTF">2011-08-01T06:04:30Z</dcterms:modified>
  <cp:revision>1</cp:revision>
  <dc:title>Voyage-Analytics-Integrating-MLOps-in-Travel-Systems.pptx</dc:title>
</cp:coreProperties>
</file>